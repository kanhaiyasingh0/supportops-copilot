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a3e99ef06c4135" /><Relationship Type="http://schemas.openxmlformats.org/officeDocument/2006/relationships/extended-properties" Target="/docProps/app.xml" Id="R2030153c861244a5" /><Relationship Type="http://schemas.openxmlformats.org/officeDocument/2006/relationships/officeDocument" Target="/ppt/presentation.xml" Id="Ra608414aa87141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cb229d7b5a48d8"/>
  </p:sldMasterIdLst>
  <p:notesMasterIdLst>
    <p:notesMasterId xmlns:r="http://schemas.openxmlformats.org/officeDocument/2006/relationships" r:id="R933572cba64945c6"/>
  </p:notesMasterIdLst>
  <p:sldIdLst>
    <p:sldId xmlns:r="http://schemas.openxmlformats.org/officeDocument/2006/relationships" id="256" r:id="R02d2304a7de1449e"/>
    <p:sldId xmlns:r="http://schemas.openxmlformats.org/officeDocument/2006/relationships" id="257" r:id="R941f099f0eeb4dc2"/>
    <p:sldId xmlns:r="http://schemas.openxmlformats.org/officeDocument/2006/relationships" id="258" r:id="R33c44300269c4ddf"/>
    <p:sldId xmlns:r="http://schemas.openxmlformats.org/officeDocument/2006/relationships" id="259" r:id="Rcd1b68d778ac4983"/>
    <p:sldId xmlns:r="http://schemas.openxmlformats.org/officeDocument/2006/relationships" id="260" r:id="R2c95f7880b5b40cc"/>
    <p:sldId xmlns:r="http://schemas.openxmlformats.org/officeDocument/2006/relationships" id="261" r:id="R48ac3b86a9564364"/>
    <p:sldId xmlns:r="http://schemas.openxmlformats.org/officeDocument/2006/relationships" id="262" r:id="R6e6ff0aa99f042e2"/>
    <p:sldId xmlns:r="http://schemas.openxmlformats.org/officeDocument/2006/relationships" id="263" r:id="R96cf52954e7f4e10"/>
    <p:sldId xmlns:r="http://schemas.openxmlformats.org/officeDocument/2006/relationships" id="264" r:id="Rb7fa0fd8774f437b"/>
    <p:sldId xmlns:r="http://schemas.openxmlformats.org/officeDocument/2006/relationships" id="265" r:id="Rd4beeefb179e4d4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c469d96acc341c6" /><Relationship Type="http://schemas.openxmlformats.org/officeDocument/2006/relationships/slideMaster" Target="/ppt/slideMasters/slideMaster1.xml" Id="R58cb229d7b5a48d8" /><Relationship Type="http://schemas.openxmlformats.org/officeDocument/2006/relationships/notesMaster" Target="/ppt/notesMasters/notesMaster1.xml" Id="R933572cba64945c6" /><Relationship Type="http://schemas.openxmlformats.org/officeDocument/2006/relationships/presProps" Target="/ppt/presProps.xml" Id="Re101e1de46774750" /><Relationship Type="http://schemas.openxmlformats.org/officeDocument/2006/relationships/viewProps" Target="/ppt/viewProps.xml" Id="R3492eb4c0f424c0c" /><Relationship Type="http://schemas.openxmlformats.org/officeDocument/2006/relationships/tableStyles" Target="/ppt/tableStyles.xml" Id="Re680bd32b9d24d6c" /><Relationship Type="http://schemas.openxmlformats.org/officeDocument/2006/relationships/slide" Target="/ppt/slides/slide1.xml" Id="R02d2304a7de1449e" /><Relationship Type="http://schemas.openxmlformats.org/officeDocument/2006/relationships/slide" Target="/ppt/slides/slide2.xml" Id="R941f099f0eeb4dc2" /><Relationship Type="http://schemas.openxmlformats.org/officeDocument/2006/relationships/slide" Target="/ppt/slides/slide3.xml" Id="R33c44300269c4ddf" /><Relationship Type="http://schemas.openxmlformats.org/officeDocument/2006/relationships/slide" Target="/ppt/slides/slide4.xml" Id="Rcd1b68d778ac4983" /><Relationship Type="http://schemas.openxmlformats.org/officeDocument/2006/relationships/slide" Target="/ppt/slides/slide5.xml" Id="R2c95f7880b5b40cc" /><Relationship Type="http://schemas.openxmlformats.org/officeDocument/2006/relationships/slide" Target="/ppt/slides/slide6.xml" Id="R48ac3b86a9564364" /><Relationship Type="http://schemas.openxmlformats.org/officeDocument/2006/relationships/slide" Target="/ppt/slides/slide7.xml" Id="R6e6ff0aa99f042e2" /><Relationship Type="http://schemas.openxmlformats.org/officeDocument/2006/relationships/slide" Target="/ppt/slides/slide8.xml" Id="R96cf52954e7f4e10" /><Relationship Type="http://schemas.openxmlformats.org/officeDocument/2006/relationships/slide" Target="/ppt/slides/slide9.xml" Id="Rb7fa0fd8774f437b" /><Relationship Type="http://schemas.openxmlformats.org/officeDocument/2006/relationships/slide" Target="/ppt/slides/slide10.xml" Id="Rd4beeefb179e4d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b76c0564e8a43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a8d37d9fc89442c" /><Relationship Type="http://schemas.openxmlformats.org/officeDocument/2006/relationships/notesMaster" Target="/ppt/notesMasters/notesMaster1.xml" Id="R53cc39b813e54ef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f5fe0d6a5049a0" /><Relationship Type="http://schemas.openxmlformats.org/officeDocument/2006/relationships/notesMaster" Target="/ppt/notesMasters/notesMaster1.xml" Id="R83337cfc59114f4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da825e1ae1644ce" /><Relationship Type="http://schemas.openxmlformats.org/officeDocument/2006/relationships/notesMaster" Target="/ppt/notesMasters/notesMaster1.xml" Id="R796b8a99d66648a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240a88bf184c64" /><Relationship Type="http://schemas.openxmlformats.org/officeDocument/2006/relationships/notesMaster" Target="/ppt/notesMasters/notesMaster1.xml" Id="R26d50f215f58463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b5beaa6d7cd40e9" /><Relationship Type="http://schemas.openxmlformats.org/officeDocument/2006/relationships/notesMaster" Target="/ppt/notesMasters/notesMaster1.xml" Id="R190e45a073ff44b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04dfb09b1924517" /><Relationship Type="http://schemas.openxmlformats.org/officeDocument/2006/relationships/notesMaster" Target="/ppt/notesMasters/notesMaster1.xml" Id="R9c18f4c003b445e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8d94cfdc2de42cf" /><Relationship Type="http://schemas.openxmlformats.org/officeDocument/2006/relationships/notesMaster" Target="/ppt/notesMasters/notesMaster1.xml" Id="Re3857cddd68b49b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43207b1eb4d44ff" /><Relationship Type="http://schemas.openxmlformats.org/officeDocument/2006/relationships/notesMaster" Target="/ppt/notesMasters/notesMaster1.xml" Id="R61b872f6f7634a8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ed6cf6940c54556" /><Relationship Type="http://schemas.openxmlformats.org/officeDocument/2006/relationships/notesMaster" Target="/ppt/notesMasters/notesMaster1.xml" Id="Rd4e94bbc7671401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4fdd8ebc53744d8" /><Relationship Type="http://schemas.openxmlformats.org/officeDocument/2006/relationships/notesMaster" Target="/ppt/notesMasters/notesMaster1.xml" Id="R05791fc51d4a438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ddfc09087f430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3a0807096744709" /><Relationship Type="http://schemas.openxmlformats.org/officeDocument/2006/relationships/slideLayout" Target="/ppt/slideLayouts/slideLayout1.xml" Id="Rc8bb63781cfe406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bb63781cfe406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450baae8764ac8" /><Relationship Type="http://schemas.openxmlformats.org/officeDocument/2006/relationships/notesSlide" Target="/ppt/notesSlides/notesSlide1.xml" Id="R2a0dd66686e74fb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e6d23882804e7c" /><Relationship Type="http://schemas.openxmlformats.org/officeDocument/2006/relationships/notesSlide" Target="/ppt/notesSlides/notesSlide2.xml" Id="Ra8b78a866645485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c1780c929445fa" /><Relationship Type="http://schemas.openxmlformats.org/officeDocument/2006/relationships/notesSlide" Target="/ppt/notesSlides/notesSlide3.xml" Id="R54b3ed2bd2f841a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20fb76b4c24106" /><Relationship Type="http://schemas.openxmlformats.org/officeDocument/2006/relationships/notesSlide" Target="/ppt/notesSlides/notesSlide4.xml" Id="Rac019ac1e72643d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1a660006584e53" /><Relationship Type="http://schemas.openxmlformats.org/officeDocument/2006/relationships/notesSlide" Target="/ppt/notesSlides/notesSlide5.xml" Id="Ra0190154099d467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1b6c29de8947fd" /><Relationship Type="http://schemas.openxmlformats.org/officeDocument/2006/relationships/notesSlide" Target="/ppt/notesSlides/notesSlide6.xml" Id="Ra212b842cfaf4ae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71339a862f4382" /><Relationship Type="http://schemas.openxmlformats.org/officeDocument/2006/relationships/notesSlide" Target="/ppt/notesSlides/notesSlide7.xml" Id="R1c3c41f06c984a3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fb6de52e784eb7" /><Relationship Type="http://schemas.openxmlformats.org/officeDocument/2006/relationships/notesSlide" Target="/ppt/notesSlides/notesSlide8.xml" Id="R16a4145cbff24ad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ecd179c9b845f2" /><Relationship Type="http://schemas.openxmlformats.org/officeDocument/2006/relationships/notesSlide" Target="/ppt/notesSlides/notesSlide9.xml" Id="R76efb295501340e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e70b3d124d47e7" /><Relationship Type="http://schemas.openxmlformats.org/officeDocument/2006/relationships/notesSlide" Target="/ppt/notesSlides/notesSlide10.xml" Id="R4ba7a8acecee49c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37F089-4F89-4DDB-AD51-1FFBFF939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02DFBA-26CF-438E-92B4-F103933B0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43EB08-A0C8-4540-A203-E99386686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533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E6C3FA-0569-4C06-BEF1-9538A2201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85800"/>
            <a:ext cx="40005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0AF59B-99A9-4A36-8762-55D25A703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952500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SNOW -&gt; AI -&gt; Server checks -&gt; Work notes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E9156B-5C88-4474-A5C8-670CF9729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04950"/>
            <a:ext cx="3143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8385FD-39B9-4829-8CB3-BCDC9D88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61925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INC0010422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329BFF-6D88-45F4-981B-B0D64C04D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82880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High memory on APP-SRV-014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38E0D3-2C89-495B-9609-2FE8E3573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01930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94% memory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AE99E8-F5D6-4AC2-A414-4288111DC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95550"/>
            <a:ext cx="3143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B6C22F-08A1-4841-84FE-4FEF6E7F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60985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INC0010423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CE5A24-16FA-489D-B591-88990ADF7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81940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Check SQL services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6EDB48-B985-477C-BD81-1B77AF1B8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00990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SQLSERVERAGENT stopped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BE15E7-1B7C-4147-AADA-5A097F0F5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86150"/>
            <a:ext cx="3143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6821ED-E79B-4BF2-B8B4-ED1617635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60045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TCK-1001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4D1B0A-C3B7-4341-83B9-6924FDB9E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1000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403 after deployment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A17294-7A27-431F-AFAD-37B4002FE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00050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Identity Platform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A8E17C-6EFF-4F5F-8288-C4CBEE832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C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9525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4018BF-DAFC-4402-BEEF-2EFCA0D78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0525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8C7E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8C7E0"/>
                </a:solidFill>
                <a:latin typeface="Aptos"/>
                <a:ea typeface="Aptos"/>
                <a:cs typeface="Aptos"/>
              </a:rPr>
              <a:t>HACKATHON SUBMISSION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BFF7BF-A628-47A4-BF8B-CB71811E6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0"/>
            <a:ext cx="5715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SupportOps Copilot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B3718A-906A-45DC-A2F8-C5C1EEDBE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5334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8C7E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8C7E0"/>
                </a:solidFill>
                <a:latin typeface="Aptos"/>
                <a:ea typeface="Aptos"/>
                <a:cs typeface="Aptos"/>
              </a:rPr>
              <a:t>AI automation for MNC support teams: ticket triage, knowledge assistance, shift handover, and ServiceNow-driven server checks.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E37F2B-8EC7-44AD-8F87-D986DBA04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0"/>
            <a:ext cx="21526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52627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A89D29-C610-4583-BB90-48BF47657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62350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CBFEC1-120A-453B-AC41-C7A226059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433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AF3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AF3FF"/>
                </a:solidFill>
                <a:latin typeface="Aptos"/>
                <a:ea typeface="Aptos"/>
                <a:cs typeface="Aptos"/>
              </a:rPr>
              <a:t>support workflows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F2C394-B038-43AF-AB5B-82645DBF7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719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8C7E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8C7E0"/>
                </a:solidFill>
                <a:latin typeface="Aptos"/>
                <a:ea typeface="Aptos"/>
                <a:cs typeface="Aptos"/>
              </a:rPr>
              <a:t>triage, KB, handover, SNOW automation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EB557B-7CEF-4235-AD46-657D701F3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29000"/>
            <a:ext cx="21526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52627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FA1220-74DF-4B3C-975A-11E003881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562350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20+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070340-309A-4025-AEAD-CF95942B1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9433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AF3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AF3FF"/>
                </a:solidFill>
                <a:latin typeface="Aptos"/>
                <a:ea typeface="Aptos"/>
                <a:cs typeface="Aptos"/>
              </a:rPr>
              <a:t>synthetic tickets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DFE3C9-AE28-4A1D-BFC8-A379958B1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1719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8C7E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8C7E0"/>
                </a:solidFill>
                <a:latin typeface="Aptos"/>
                <a:ea typeface="Aptos"/>
                <a:cs typeface="Aptos"/>
              </a:rPr>
              <a:t>public-repo safe demo data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119EC8-81AF-456A-9C93-617C0AA61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0"/>
            <a:ext cx="2952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D58558-2751-4C56-9FC9-CBB233FFC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95875"/>
            <a:ext cx="295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Solo builder: Kanhaiya Kumar Singh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8B15B4-6996-4358-ACA0-DF80A16E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8C7E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8C7E0"/>
                </a:solidFill>
                <a:latin typeface="Aptos"/>
                <a:ea typeface="Aptos"/>
                <a:cs typeface="Aptos"/>
              </a:rPr>
              <a:t>Theme: AI at Work - Productivity &amp; Teamwork Reimagined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989D23-49FC-44FB-AFCB-705DB3A0B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SupportOps Copilot | Microsoft Build AI 2026 | 01</a:t>
            </a:r>
          </a:p>
        </p:txBody>
      </p:sp>
    </p:spTree>
    <p:extLst>
      <p:ext uri="{BB962C8B-B14F-4D97-AF65-F5344CB8AC3E}">
        <p14:creationId xmlns:p14="http://schemas.microsoft.com/office/powerpoint/2010/main" val="1693483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9CA616-CEB9-4692-B67D-147CE628C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10062B-E731-4B43-A8F3-FA95138AE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9525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810B14-D73F-47AA-9CD2-B87D4B691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0525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44DF0A-461C-4193-816C-83A03C591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8572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Support teams lose hours converting tickets into action.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A5081B-26F4-40A3-BFB8-D7C851E22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MNC L1/L2 support work is still full of repetitive checks, copy-paste updates, and manual routing.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697A82-F909-4608-8464-695B3885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21526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651F5A-3A0E-4953-92E2-3F67E1A38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0510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4EDA62-0E4A-4D84-BE63-E374C739D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861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Manual triage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8A77BB-F7BD-4BFF-AEF0-B3DD7069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147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Read SNOW, infer owner, assign group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1859C6-208A-4070-89D0-35DEA7653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71750"/>
            <a:ext cx="21526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0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FFE425-3777-4AF4-8997-1A55F3C84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0510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253B93-B3D4-4245-84F9-8D1CD2F5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0861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Server checks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6D76C4-6EBD-4840-A3B4-9062AFD8A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3147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RDP/remote shell, inspect memory and CPU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05B9E6-9FBB-48EF-99AA-968DC4F6C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571750"/>
            <a:ext cx="21526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8F6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44FC01-F647-4CF5-8837-3C3F14942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70510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F45709-B285-4D76-BE5D-28006A405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0861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Service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8C20C5-5EB3-47CB-805A-EDCD7CCD8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3147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Find service names and verify running state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34BEB1-3CDC-4048-BAA0-615BF25F9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71750"/>
            <a:ext cx="21526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022C0A-FAB4-4CDC-A6B4-35F138B6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0510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2F610B-2F49-4806-881C-BC82D3CB6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861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Ticket updates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8F5489-57FD-481E-AAB8-1A963C532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147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Write work notes, customer update, handover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D3DE63-CE0B-487C-837E-E375BC331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9810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C5E44E-A6D3-4AED-BEB6-F52175DA7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00550"/>
            <a:ext cx="9048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The support engineer is not missing knowledge; they are trapped in repetitive coordination loops.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0AEC4B-9616-46AB-9F6E-882F83E2A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85775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Impact: slower SLA response, inconsistent handovers, missed escalations, and higher fatigue during incident-heavy shifts.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385678-A391-4FD3-BB1F-1D63BCC3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SupportOps Copilot | Microsoft Build AI 2026 | 02</a:t>
            </a:r>
          </a:p>
        </p:txBody>
      </p:sp>
    </p:spTree>
    <p:extLst>
      <p:ext uri="{BB962C8B-B14F-4D97-AF65-F5344CB8AC3E}">
        <p14:creationId xmlns:p14="http://schemas.microsoft.com/office/powerpoint/2010/main" val="32329480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253FA2-A94E-47CB-9A0F-C33076823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C10E04-D339-494C-AF3A-57329EBCA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9525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9C1D46-D712-466A-B2D0-B0994CA0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0525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SOLUTION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A851C4-6CFB-4A76-82BE-934BC96AB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8572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SupportOps Copilot turns incident text into resolved next steps.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F79EFF-1E8D-445D-861E-F6BDCF07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One dashboard coordinates AI understanding, SOP lookup, ticket updates, and safe automation recommendations.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03B0FC-E750-4C17-B3BE-7E7FCE917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2190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D704BD-B5A9-4956-B133-C811F8B6B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315CD1-4F1B-47EE-A9D3-CFC966B20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0510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Understand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9FB2B4-5721-469D-B72A-3FDBE8528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81325"/>
            <a:ext cx="1905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Extract incident intent, server, affected users, severity, missing facts, and assignment path.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8D8773-F4CC-4707-98D8-DD2F01463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385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F2FC24-5130-4DB3-BF35-0F0909813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18135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6213E2-4517-473C-BE1A-1E2C1982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571750"/>
            <a:ext cx="2190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3A0ED0-7C14-43C9-A30C-90EF2BEC2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571750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C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DF6788-C555-4DBB-897A-71CE34D30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70510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Decide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AC452E-F388-4C3D-9643-5E053A7EE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981325"/>
            <a:ext cx="1905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Classify workflow: assignment, memory check, CPU check, service check, or escalation.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FC4C7E-B09B-460A-BAA7-4830CBC71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2385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C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FA7341-E155-4DE4-8E65-F63DD7CDF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18135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47C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FCF667-C281-45BC-9491-0F66CF499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71750"/>
            <a:ext cx="2190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2689FB-CF84-4785-B5FA-D2FCB27AC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71750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5C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5422F1-E77A-4672-9FF1-F523C80F3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70510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93ABEA-DF38-4442-8A25-F1C6F22DD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81325"/>
            <a:ext cx="1905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Run safe automation in demo mode and generate human-reviewed SNOW work notes.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CB7BD9-7FAB-424B-B2FE-4F702B53F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385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5C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04E256-C1E7-4F3C-8367-47DF849A3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18135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15C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907BE7-6D9F-484F-9923-1AC67CC3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571750"/>
            <a:ext cx="1619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2C26DB-28C0-426D-B886-8A5410D8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571750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FC037A-3F8D-4163-AAF0-110CC391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7051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Report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E42BDB-D16C-46A1-AF39-C70A4BB99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981325"/>
            <a:ext cx="1333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Update support context, handover, and customer-safe response drafts.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E4EB67-6024-4186-91D1-3A852CDF6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29150"/>
            <a:ext cx="990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855DCA-ECFB-4E5B-A234-64A164272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19650"/>
            <a:ext cx="933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goal is not to replace support engineers. It removes the repetitive first 20 minutes so humans can handle judgment, approvals, and customer trust.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C61FA2-F119-4452-9DC8-42E951E17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SupportOps Copilot | Microsoft Build AI 2026 | 03</a:t>
            </a:r>
          </a:p>
        </p:txBody>
      </p:sp>
    </p:spTree>
    <p:extLst>
      <p:ext uri="{BB962C8B-B14F-4D97-AF65-F5344CB8AC3E}">
        <p14:creationId xmlns:p14="http://schemas.microsoft.com/office/powerpoint/2010/main" val="154439618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93C803-E894-45BC-84CD-C2043FB75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33B72D-B8B5-48B4-8121-E593E3554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9525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47A7BB-0FD0-467C-A172-54AAA986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0525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D53927-22C8-4E8B-9B6E-7A3D5BD7D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8572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The prototype covers the real support shift loop.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44E19F-4B66-4DFD-9EF2-5969F30DD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From a messy incoming queue to analysis, runbook guidance, handover, and SNOW automation.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418B5E-8960-48E3-A9B1-A355D3CD1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3143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0A4A93-8B84-4A30-8F77-7140B1ECB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9080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8DE9BF-1B56-4046-A067-B5CF7087A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90800"/>
            <a:ext cx="2419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Ticket triage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DCF9F1-C1E8-4B68-8171-C2094D4DE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95600"/>
            <a:ext cx="2419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Classify P1-P4, category, business impact, missing info, resolver group, and draft customer reply.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ADE5C1-9559-4FFC-8332-79CB69C3C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57450"/>
            <a:ext cx="3143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8F6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005674-E459-402C-B0BF-C594CE06B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59080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A243ED-EF10-420E-A6C9-6A60B4EF1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590800"/>
            <a:ext cx="2419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Knowledge assistant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CEFF2E-5DCC-42ED-A701-815A9D8C9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895600"/>
            <a:ext cx="2419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Answers support questions from SOPs/runbooks and refuses unsupported guidance.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DDB05F-AF71-4008-8DDE-FC72D1AE7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57450"/>
            <a:ext cx="3143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0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DB16EA-0109-4CE6-B7D1-387712394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9080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113D1C-0345-4898-BC8A-03D553024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590800"/>
            <a:ext cx="2419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Shift handover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29E0FC-8A00-41E7-BFE7-F95BE5804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895600"/>
            <a:ext cx="2419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Groups open items into critical, blocked, waiting on customer, escalated, and next actions.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DBB930-A9DD-40E7-BADB-17815A1EF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171950"/>
            <a:ext cx="7048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253B05-E88E-4C52-8661-7F304F5D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30530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08DE82-8336-4AD9-8384-9187A0DB9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05300"/>
            <a:ext cx="6324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Version 2 SNOW automation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CDD02F-2D81-4166-A2DC-510DFDB1F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10100"/>
            <a:ext cx="6324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Simulates ServiceNow incident intake, assignment routing, memory check, CPU check, service status check, and work-notes draft.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EE221A-1432-426A-81E2-84C76AC2D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SupportOps Copilot | Microsoft Build AI 2026 | 04</a:t>
            </a:r>
          </a:p>
        </p:txBody>
      </p:sp>
    </p:spTree>
    <p:extLst>
      <p:ext uri="{BB962C8B-B14F-4D97-AF65-F5344CB8AC3E}">
        <p14:creationId xmlns:p14="http://schemas.microsoft.com/office/powerpoint/2010/main" val="29949689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03E3C1-6909-463F-9195-FA799046C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145110-C60E-4FEE-B8C7-25F5E41D3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9525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396B71-6F36-42FB-9701-B7258D415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0525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A1CDBC-F956-464F-8443-34F66172C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8572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A thin FastAPI layer orchestrates AI, SOPs, and automation.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3B8DBA-B2F9-40BA-8CB3-5B6557DF1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The demo uses safe mock connectors now, with production paths for ServiceNow and server checks.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46B50C-6081-4ECA-BEF3-DDB8DBF82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19375"/>
            <a:ext cx="1809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CB7EDE-3F80-4518-AA81-610BF7825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19375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AE792B-0DE6-40A0-AA82-357F26DF0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52725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Inputs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CB31B7-AB9E-42AC-A0C2-AF2ECF01E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152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SNOW incidents</a:t>
            </a:r>
          </a:p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Support tickets</a:t>
            </a:r>
          </a:p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SOP runbooks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9760DB-B6B8-4A96-9AAE-7EF539346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90875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B70BC9-1102-44B0-AD08-B80AC4813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13372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6BFF9A-A338-4B0F-A35F-3422A4D9A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381250"/>
            <a:ext cx="2095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1D1841-AED5-4A42-BBFF-7857C6227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38125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1B1339-E53B-4CA1-8211-EE563AD0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5146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FastAPI Orchestrator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DE0C2C-18D7-4938-BD3B-CDBD617A2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790825"/>
            <a:ext cx="1809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Routes requests</a:t>
            </a:r>
          </a:p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Stores demo data</a:t>
            </a:r>
          </a:p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Calls AI service</a:t>
            </a:r>
          </a:p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Runs automation engine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501C2E-6727-49B4-B2C1-B5B357736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190875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C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7CD3C6-46FE-4B89-856E-99BDD876C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13372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47C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D24510-AC58-4AE9-8C7F-AFE276A1A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2095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8F6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26C20F-7856-4649-9DE6-11ABBA03E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C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205626-D703-4EF2-B949-BCB5565AC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288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Azure AI Layer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D88FD4-94B4-4358-BC07-B19E6C2BB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05075"/>
            <a:ext cx="1809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Azure OpenAI / AI Foundry compatible prompts for triage, answers, and summaries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04207A-6A4E-47D3-8A7E-255FFDC6B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76625"/>
            <a:ext cx="2095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0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B568D5-25CF-4C39-B1D0-DF6235172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76625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5C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97B8AE-0ECA-4003-A620-7A4165F76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0997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Automation Engine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FE2030-2A76-41F9-8C58-89B99D131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86200"/>
            <a:ext cx="1809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Assignment, memory, CPU, and service checks with SNOW work notes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CB9CF5-0EB7-4E23-BBF1-9489F6786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90875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324B00-1F12-4A25-B713-0FD460954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13372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D5A20F-F40E-42BE-95A7-DA0E176EA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381250"/>
            <a:ext cx="2095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EA8D24-0751-42B7-BC62-58707D5F6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38125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C8F53C-A424-45A5-A546-3EB80DA8F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5146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Outputs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FEEC80-2C61-46B4-8CB4-30E7FE4AC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790825"/>
            <a:ext cx="1809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Priority and owner</a:t>
            </a:r>
          </a:p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Customer reply</a:t>
            </a:r>
          </a:p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Handover report</a:t>
            </a:r>
          </a:p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SNOW work notes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E6EB2B-C9BE-4C1B-AC8B-00BB9DAC3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95875"/>
            <a:ext cx="1028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Production extension: ServiceNow Table API + WinRM/PowerShell remoting + Azure Key Vault secrets.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B26DD2C-3472-4C89-BA31-CDF2DF81B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SupportOps Copilot | Microsoft Build AI 2026 | 05</a:t>
            </a:r>
          </a:p>
        </p:txBody>
      </p:sp>
    </p:spTree>
    <p:extLst>
      <p:ext uri="{BB962C8B-B14F-4D97-AF65-F5344CB8AC3E}">
        <p14:creationId xmlns:p14="http://schemas.microsoft.com/office/powerpoint/2010/main" val="109728540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B62613-FD9C-4C4A-A560-1359C695E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7FC9B0-D853-4EBF-A857-66479EE9E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9525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82A2D6-01DF-408C-B634-FADF1F484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0525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AI INTEGRATION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D92231-E944-4A37-A1D8-89CDC7FEB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8572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AI is used where language creates operational ambiguity.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0165F7-BFBA-4DA0-91C2-74C412B9F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The app keeps deterministic guardrails around every generated support action.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40451F-3E03-4395-BDBA-BBE31D0E3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571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32B22C-8175-4CF4-A150-58F12F497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7A11E8-A7F1-40D4-8BE6-912314931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098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Triage prompt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7EB68D-4F15-4FF2-AE42-D65D4862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86075"/>
            <a:ext cx="228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Returns strict JSON: priority, category, business impact, affected users, missing info, next steps, escalation team, and reply.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BC549C-4343-4791-8E21-28A9AA03C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76500"/>
            <a:ext cx="2571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EB39EC-A191-4E40-907B-7F6F16896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76500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C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3155E0-20A2-4135-A6A6-E9FD6EBC2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6098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Grounded SOP answer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A9337D-7A65-4EE0-8134-6F54DBED3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886075"/>
            <a:ext cx="228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Answers only from provided runbook context and says when information is missing.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F75107-C6D7-4C02-9491-32C086C7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76500"/>
            <a:ext cx="2571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41968D-A973-43AB-B7F7-B7679E972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76500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5C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34BDE7-6C89-460C-9FC6-F14DDD2CB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6098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Handover summary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6B4BBA-C9FB-4155-AE21-39FEE404A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86075"/>
            <a:ext cx="228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Groups active tickets by risk, blocker, customer wait, engineering escalation, and next-shift actions.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7D0B0F-8D3B-430C-AB7C-0842585BE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76500"/>
            <a:ext cx="2000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452834-7875-44EF-BB82-5986EE47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76500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CE9193-E8AB-40E2-B084-2C8C671D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6098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Mock fallback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4CEA07-23FD-413B-8A2F-9F919390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886075"/>
            <a:ext cx="1714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Keeps the prototype demoable when Azure credits or keys are delayed.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E5E2D4-16E6-4905-9F65-AF1065757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381500"/>
            <a:ext cx="21526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0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2C10D9-A5A5-4983-92E1-109AEC79D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451485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Human review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35D35E-F8A2-4B07-BFD6-5BC14D0FF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48958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required on outputs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6BC5C2-4544-4E83-B795-29942A717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51244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No autonomous customer-facing action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0115BA-D0A8-4C8D-9759-5C8E6BF53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381500"/>
            <a:ext cx="21526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07B31B-B7FA-4260-A96A-A73082AD7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51485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Strict JSON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BFDBFC-21FD-4255-9BCE-53881A3AE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8958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for triage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265EFD-E608-45D0-A9DE-D3FDC3F1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51244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Reduces hallucinated fields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2D093B-9CDE-4C33-A749-3BFD7ACE3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381500"/>
            <a:ext cx="21526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8F6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A1CB6F-BCC3-453B-86DF-98514D300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51485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Azure-ready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9A0B16-7AC5-4A34-A0B4-AB93DEF65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8958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configuration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4E75C1-50EC-4A28-842C-BFE3B20A4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51244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Endpoint, key, deployment via env vars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3680440-426E-4CB6-8417-C167C5F2A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SupportOps Copilot | Microsoft Build AI 2026 | 06</a:t>
            </a:r>
          </a:p>
        </p:txBody>
      </p:sp>
    </p:spTree>
    <p:extLst>
      <p:ext uri="{BB962C8B-B14F-4D97-AF65-F5344CB8AC3E}">
        <p14:creationId xmlns:p14="http://schemas.microsoft.com/office/powerpoint/2010/main" val="92564475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958A60-53C0-4EDB-9169-21DCA8544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CF2DCD-2CF9-4838-BA00-7EAC02817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9525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A20888-4C54-41F2-B9DE-4F0C7109C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0525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DEMO SCREENS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2729AF-4C1C-464C-8234-399146983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8572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The working prototype shows the complete support path.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26CE3B-5889-451B-B920-727D826EB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Dashboard frames mirror the live app flows that judges can interact with.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524ADE-5848-4E61-BD96-1D1D99405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33625"/>
            <a:ext cx="3333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0AC439-F54B-4F7E-8E31-C552DD493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33625"/>
            <a:ext cx="3333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98F311-ACAF-4F07-BDD6-C663C32CE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9825"/>
            <a:ext cx="3067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Ticket triage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4D21ED-FEC3-4339-A7A8-D3EDC94DD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2B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F6EC21-8C06-4DCD-A4FF-22CB937BE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28925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P1 TCK-1001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01DDFF-2446-471A-A9D3-B58CC561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00400"/>
            <a:ext cx="2667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APAC users cannot log in after deployment</a:t>
            </a:r>
          </a:p>
          <a:p xmlns:a="http://schemas.openxmlformats.org/drawingml/2006/main">
            <a:pPr algn="l">
              <a:defRPr sz="975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Category: Authentication / Access</a:t>
            </a:r>
          </a:p>
          <a:p xmlns:a="http://schemas.openxmlformats.org/drawingml/2006/main">
            <a:pPr algn="l">
              <a:defRPr sz="975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Escalation: Identity Platform</a:t>
            </a:r>
          </a:p>
          <a:p xmlns:a="http://schemas.openxmlformats.org/drawingml/2006/main">
            <a:pPr algn="l">
              <a:defRPr sz="975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Next steps: check auth policy, SSO claims, rollback risk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E2E68A-5879-4744-A655-2A7B1D8CF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33625"/>
            <a:ext cx="3333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7A386B-C011-4F94-A31E-5C85A0910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33625"/>
            <a:ext cx="3333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5330F6-A476-4FFC-BFC0-62DD5C349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409825"/>
            <a:ext cx="3067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Knowledge + handover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98E655-E3E0-4E2B-B11C-43061BE65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81300"/>
            <a:ext cx="2667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Question: What should I check for 403 after deployment?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09DB39-E576-4A74-81BD-8101B195C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86125"/>
            <a:ext cx="2667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Answer from SSO 403 runbook</a:t>
            </a:r>
          </a:p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Critical: all P1 tickets</a:t>
            </a:r>
          </a:p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Blocked: backup + incident bot</a:t>
            </a:r>
          </a:p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Next shift: update P1 every 30 min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F315C7-3617-437E-817F-8C29DD75F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33625"/>
            <a:ext cx="3333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9BE56E-A4B1-44B9-AD66-62612413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33625"/>
            <a:ext cx="3333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367485-6DBF-4D59-8906-603C097A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09825"/>
            <a:ext cx="3067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V2 SNOW automation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1B5AB5-CC77-4298-B87C-D20E7E5E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8130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5C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FC013C-4D80-46EF-94CB-0B4435930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28925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INC0010422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CC52B2-59A9-4603-9CDC-9975D15F5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00400"/>
            <a:ext cx="2667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High memory on APP-SRV-014</a:t>
            </a:r>
          </a:p>
          <a:p xmlns:a="http://schemas.openxmlformats.org/drawingml/2006/main">
            <a:pPr algn="l">
              <a:defRPr sz="975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Memory: 94%</a:t>
            </a:r>
          </a:p>
          <a:p xmlns:a="http://schemas.openxmlformats.org/drawingml/2006/main">
            <a:pPr algn="l">
              <a:defRPr sz="975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CPU: 38%</a:t>
            </a:r>
          </a:p>
          <a:p xmlns:a="http://schemas.openxmlformats.org/drawingml/2006/main">
            <a:pPr algn="l">
              <a:defRPr sz="975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SNOW work notes drafted with next action and human approval warning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A6F0AA-80ED-4D39-9B06-E08B9301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19650"/>
            <a:ext cx="8953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055CBC-3602-4EB2-9263-2448DDFC7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981575"/>
            <a:ext cx="847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Live flow: analyze ticket -&gt; ask SOPs -&gt; generate handover -&gt; run SNOW memory/service automation.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47A311-1D76-484B-B4AD-927329D85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SupportOps Copilot | Microsoft Build AI 2026 | 07</a:t>
            </a:r>
          </a:p>
        </p:txBody>
      </p:sp>
    </p:spTree>
    <p:extLst>
      <p:ext uri="{BB962C8B-B14F-4D97-AF65-F5344CB8AC3E}">
        <p14:creationId xmlns:p14="http://schemas.microsoft.com/office/powerpoint/2010/main" val="132344587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590A23-FC1F-4214-939F-FB809137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12B5CE-8B89-4087-B2E0-C1FE17855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9525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E2F951-E590-4344-B211-ADFAF3C81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0525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IMPACT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C6791F-00A8-43E1-9D0D-B2A5645F2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8572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The value is fewer SLA misses and cleaner shift execution.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89DF71-2D30-4DBD-A15F-2B21C2924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SupportOps Copilot targets the repetitive work that slows every incident-heavy support team.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5F3612-15E4-4AC6-82DF-82B9FD7A2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Manual triage time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69CA2C-4A43-4D9D-832F-FC2D68DA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24125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EDACE1-233D-4110-B6A6-C0B63B154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24125"/>
            <a:ext cx="396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1542B6-0D8D-48F1-891E-250331749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765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80% automation potential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22A8C0-D392-4DD9-9942-6C7F8B0E0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619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AI extracts priority, team, missing facts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FBC058-5762-406E-B82E-5F42B929A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Handover gaps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EC8832-D898-4C39-9AA3-A48670BC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67075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6F35BA-44C3-4A91-8C50-9B190FF0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67075"/>
            <a:ext cx="3467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80880C-D7D3-4EA9-9C79-2C62D2FBB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194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70% automation potential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87A388-0F2A-44CA-A42A-9F4DF49BC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86150"/>
            <a:ext cx="619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Open risks grouped consistently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21B285-24C3-4F16-B1EA-6CD502196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624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Repeated SOP search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CB2CE7-A7E6-4BF7-8DB0-551602D69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10025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9B3EA5-7EAF-4B36-84DD-23CFFFC2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10025"/>
            <a:ext cx="3219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C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F18415-2434-4E4F-BB11-E26897E36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624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65% automation potential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075C0A-92E0-4F8F-848A-7C07B6037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29100"/>
            <a:ext cx="619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Runbooks answer common checks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C8D909-D4D4-4720-837D-B4EB5D762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Ticket update effort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A13BEA-2FEC-4B3C-86F8-66CDD9FA5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52975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421FCD-AEAA-4AEB-816C-63407EA1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52975"/>
            <a:ext cx="2724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C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C24B7E-4386-4555-BD00-783354BAA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053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55% automation potential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FDF6FB-022E-442B-A494-2080FA04E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72050"/>
            <a:ext cx="619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Work notes drafted from evidence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600858-AC72-4C0D-AD66-61DD252DD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343400"/>
            <a:ext cx="21526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0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B5D7B9-95F5-4B78-B1C0-3EBF9FE8B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47675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30 min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A3AE56-CEB5-4BDD-B3D2-B14EA16CE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8577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P1 update rhythm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13FFE1-7965-4A22-A43F-97CE641A9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0863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Built into handover and customer notes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E36AEA-40DB-4CDC-9309-B75017CE4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43400"/>
            <a:ext cx="21526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04D144-C899-44CB-8EC8-1783B1897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7675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1 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9E778A-C511-4D13-9D95-45CA78384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8577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for shift context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7057FAC-CF1F-4BE9-8BD2-7B1AC313A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0863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Queue, AI, SOPs, automation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52AB97B-D13E-44A8-9F27-86F7A8BBD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SupportOps Copilot | Microsoft Build AI 2026 | 08</a:t>
            </a:r>
          </a:p>
        </p:txBody>
      </p:sp>
    </p:spTree>
    <p:extLst>
      <p:ext uri="{BB962C8B-B14F-4D97-AF65-F5344CB8AC3E}">
        <p14:creationId xmlns:p14="http://schemas.microsoft.com/office/powerpoint/2010/main" val="89806300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6CEDAB-9BA4-47C2-903A-4853C1245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91F7CE-3EB4-43B1-8565-3BB370D03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9525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0502E0-EFF4-4BF3-9702-020164145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0525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SCALABILITY + SECURITY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EACBCC-C19F-493F-8466-F8FCB9736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8572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Production automation needs secure connectors, not hard-coded access.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8C3AFE-090A-4179-A9DF-A47E8C16C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The v2 prototype intentionally separates demo automation from real remediation.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14D20D-500C-4A12-8CFF-979BF1759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2333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772BCC-CF15-4712-BE3F-3838E2057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B69D32-07EA-420E-A122-8DCA8E94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2047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ServiceNow 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8FF007-0985-40F5-9097-FE1AE8BBA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86075"/>
            <a:ext cx="20478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Query and update incidents via Table API; write work_notes, assignment group, state, and close notes after approval.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38629D-2287-4AA6-A20B-3A64D3BDA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095625"/>
            <a:ext cx="6953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B371EF-F0F2-4DE3-901A-6FA244FF2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30384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46F801-1575-4DC3-927D-579AE567A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76500"/>
            <a:ext cx="2333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F041F8-AEE9-4259-8B0E-01CBF8C52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76500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C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1B7012-0CB0-4A2D-A8CD-F06055031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609850"/>
            <a:ext cx="2047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Secure execution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B284DA-115F-4E65-843F-9EF4250A7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886075"/>
            <a:ext cx="20478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Use WinRM/PowerShell remoting or approved automation runners; avoid storing RDP passwords in code.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51B8BC-0F80-4461-8496-A75F84F71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95625"/>
            <a:ext cx="6953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C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D974D5-033C-4BC2-953E-938AD9A0C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0384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47C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9B4BBE-7A49-4162-8DFB-2ED629ACF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76500"/>
            <a:ext cx="2333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F29E8B-6EFC-4E2C-9DAF-355F6292C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76500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5C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844BAB-BFC6-4962-A788-4104A81DE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09850"/>
            <a:ext cx="2047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Azure Key Vault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36956D-186D-456B-9F45-2E4AFFA58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86075"/>
            <a:ext cx="20478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Store ServiceNow credentials, server credentials, API keys, and rotation metadata outside the repo.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008B41-A755-4E9E-ACDB-3A5B378C2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09562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5C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9070E7-59DC-422F-810A-8D32402D0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0384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15C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857F73-8FC3-4507-A15C-E3B3A1F68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76500"/>
            <a:ext cx="1619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BEBA7A-4E8E-40ED-9D5B-3590976AB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76500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D0FDB6-CB3B-451D-BFE1-FB63BEAF8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6098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Human gate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9E3AA2-C1A6-45EF-9A96-AC7ACFD12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886075"/>
            <a:ext cx="1333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Every remediation and customer update stays approval-based.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5DB2FA-32AD-4E9B-B53F-D9F2BF141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38650"/>
            <a:ext cx="96678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ECC794-2ADE-4877-9233-92FC04F7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19625"/>
            <a:ext cx="9096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Security posture: synthetic demo data, no secrets in GitHub, safe mock mode by default, and explicit human review warnings on outputs.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116E26-105F-45E9-992A-07F42CA0F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SupportOps Copilot | Microsoft Build AI 2026 | 09</a:t>
            </a:r>
          </a:p>
        </p:txBody>
      </p:sp>
    </p:spTree>
    <p:extLst>
      <p:ext uri="{BB962C8B-B14F-4D97-AF65-F5344CB8AC3E}">
        <p14:creationId xmlns:p14="http://schemas.microsoft.com/office/powerpoint/2010/main" val="40055343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D4ACDD-D8E1-4AD6-AF8F-3FAD73FCA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449C69-D2B4-46D2-AAF9-C06795F23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C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9525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336FA6-E274-4DE5-8E48-8714991C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0525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8C7E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8C7E0"/>
                </a:solidFill>
                <a:latin typeface="Aptos"/>
                <a:ea typeface="Aptos"/>
                <a:cs typeface="Aptos"/>
              </a:rPr>
              <a:t>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D34028-56F1-4ACB-9446-E6450D802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8572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From copilot to governed support automation.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C6485A-66FD-488A-BED3-6B5BFA62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C7E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8C7E0"/>
                </a:solidFill>
                <a:latin typeface="Aptos"/>
                <a:ea typeface="Aptos"/>
                <a:cs typeface="Aptos"/>
              </a:rPr>
              <a:t>The next step is connecting real ITSM and infrastructure systems while preserving human approval.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4F5B65-C9CE-455B-AA1A-38BB47CDC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2476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D86784-9D38-488D-AB85-B79D71BDD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654717-5364-4898-9D17-F0864A5CD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62250"/>
            <a:ext cx="1752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ServiceNow live connector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604198-D9A1-4E83-ACF4-4681A6156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67050"/>
            <a:ext cx="1752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Read incidents, classify use case, and update work notes through approved API credentials.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039B61-ECFA-4DAD-85BE-7EC0FD68F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28900"/>
            <a:ext cx="2476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88CD6C-885F-40E2-8FD5-FFDF7059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76225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506630-35B5-4A0F-B6EE-4DAFB810E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762250"/>
            <a:ext cx="1752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Server-check runner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070A56-C368-4EE5-ACF1-1A8CC8CA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067050"/>
            <a:ext cx="1752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Use secure PowerShell/WinRM jobs for memory, CPU, disk, and service health checks.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204A2D-B6D6-4C8C-9E7C-EB21263FF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28900"/>
            <a:ext cx="2476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988355-F666-41D5-8CA5-37436BDC8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6225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177814-C7DE-4293-9CB1-BE0440F19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762250"/>
            <a:ext cx="1752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Approval workflow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27F039-8F05-4A05-A395-784BC78BF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067050"/>
            <a:ext cx="1752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Require engineer approval before service restart, reassignment, or customer-facing update.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CB9028-A051-4974-B153-36BF29BE2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628900"/>
            <a:ext cx="1905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266B36-9742-4377-B1C6-452F05AA0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76225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D649B5-CC4F-4A6F-9EC8-ABF17E4E0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762250"/>
            <a:ext cx="1181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Learning loop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7AB331-6433-4DC2-9574-3D4F19D1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067050"/>
            <a:ext cx="1181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Capture outcomes to improve routing and SOP recommendations.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936E2F-0072-4184-9C36-AEEDA2AF7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86300"/>
            <a:ext cx="9525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30BC38-6861-41F1-A5E1-E142C85AC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86325"/>
            <a:ext cx="895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SupportOps Copilot gives MNC support teams a practical path from AI assistance to trusted automation.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B75BEF-CE11-41E4-BB92-2790E0228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667375"/>
            <a:ext cx="552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B79A8D-2D6F-4853-A2D7-CFFD4C6C0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715000"/>
            <a:ext cx="552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Repository: github.com/KanhaiyaSingh0/SupportOps-Copilot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47DF6E-434C-4284-A259-8003738C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SupportOps Copilot | Microsoft Build AI 2026 | 10</a:t>
            </a:r>
          </a:p>
        </p:txBody>
      </p:sp>
    </p:spTree>
    <p:extLst>
      <p:ext uri="{BB962C8B-B14F-4D97-AF65-F5344CB8AC3E}">
        <p14:creationId xmlns:p14="http://schemas.microsoft.com/office/powerpoint/2010/main" val="18223251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2026-06-07T12:05:46.2580000Z</dcterms:created>
  <dcterms:modified xsi:type="dcterms:W3CDTF">2026-06-07T12:05:46.2580000Z</dcterms:modified>
</coreProperties>
</file>